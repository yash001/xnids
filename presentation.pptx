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 in false positives</c:v>
                </c:pt>
              </c:strCache>
            </c:strRef>
          </c:tx>
          <c:spPr>
            <a:solidFill>
              <a:srgbClr val="4FD6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Infected Benign</c:v>
                  </c:pt>
                  <c:pt idx="1">
                    <c:v>Disturbed Benign</c:v>
                  </c:pt>
                  <c:pt idx="2">
                    <c:v>Unseen Benign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65.36</c:v>
                </c:pt>
                <c:pt idx="2">
                  <c:v>96.79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C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0"/>
        <c:axPos val="l"/>
        <c:majorGridlines>
          <c:spPr>
            <a:ln w="6350" cap="flat">
              <a:solidFill>
                <a:srgbClr val="2B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F"/>
        </a:solidFill>
        <a:ln>
          <a:noFill/>
        </a:ln>
        <a:effectLst/>
      </c:spPr>
    </c:plotArea>
    <c:plotVisOnly val="1"/>
    <c:dispBlanksAs val="span"/>
  </c:chart>
  <c:spPr>
    <a:solidFill>
      <a:srgbClr val="1216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CF4"/>
                </a:solidFill>
                <a:latin typeface="Arial"/>
              </a:rPr>
              <a:t>Recall by attack family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Kitsune-AE (paper baseline)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DDoS</c:v>
                  </c:pt>
                  <c:pt idx="1">
                    <c:v>PortScan</c:v>
                  </c:pt>
                  <c:pt idx="2">
                    <c:v>Botnet</c:v>
                  </c:pt>
                  <c:pt idx="3">
                    <c:v>MITM</c:v>
                  </c:pt>
                  <c:pt idx="4">
                    <c:v>HTTPFlood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92.4</c:v>
                </c:pt>
                <c:pt idx="3">
                  <c:v>84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LSTM-AE (ours)</c:v>
                </c:pt>
              </c:strCache>
            </c:strRef>
          </c:tx>
          <c:spPr>
            <a:solidFill>
              <a:srgbClr val="4FD6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DDoS</c:v>
                  </c:pt>
                  <c:pt idx="1">
                    <c:v>PortScan</c:v>
                  </c:pt>
                  <c:pt idx="2">
                    <c:v>Botnet</c:v>
                  </c:pt>
                  <c:pt idx="3">
                    <c:v>MITM</c:v>
                  </c:pt>
                  <c:pt idx="4">
                    <c:v>HTTPFlood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B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AA3B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61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CF4"/>
                </a:solidFill>
                <a:latin typeface="Arial"/>
              </a:rPr>
              <a:t>Anomaly score after zeroing top-k features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Kitsune-AE</c:v>
                </c:pt>
              </c:strCache>
            </c:strRef>
          </c:tx>
          <c:spPr>
            <a:solidFill>
              <a:srgbClr val="FFB020"/>
            </a:solidFill>
            <a:ln w="31750" cap="flat">
              <a:solidFill>
                <a:srgbClr val="FFB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020"/>
              </a:solidFill>
              <a:ln w="9525" cap="flat">
                <a:solidFill>
                  <a:srgbClr val="FFB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11.36</c:v>
                </c:pt>
                <c:pt idx="1">
                  <c:v>8.71</c:v>
                </c:pt>
                <c:pt idx="2">
                  <c:v>4.08</c:v>
                </c:pt>
                <c:pt idx="3">
                  <c:v>6.47</c:v>
                </c:pt>
                <c:pt idx="4">
                  <c:v>8.86</c:v>
                </c:pt>
                <c:pt idx="5">
                  <c:v>5.21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LSTM-AE</c:v>
                </c:pt>
              </c:strCache>
            </c:strRef>
          </c:tx>
          <c:spPr>
            <a:solidFill>
              <a:srgbClr val="4FD6D2"/>
            </a:solidFill>
            <a:ln w="31750" cap="flat">
              <a:solidFill>
                <a:srgbClr val="4FD6D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D6D2"/>
              </a:solidFill>
              <a:ln w="9525" cap="flat">
                <a:solidFill>
                  <a:srgbClr val="4FD6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8.02</c:v>
                </c:pt>
                <c:pt idx="1">
                  <c:v>7.3</c:v>
                </c:pt>
                <c:pt idx="2">
                  <c:v>3.72</c:v>
                </c:pt>
                <c:pt idx="3">
                  <c:v>6.41</c:v>
                </c:pt>
                <c:pt idx="4">
                  <c:v>8.02</c:v>
                </c:pt>
                <c:pt idx="5">
                  <c:v>5.28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B32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AA3B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6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working system, not just slides: we reproduced the paper's core explanation method, rebuilt one of its target detectors, and added our own DL alternative with a full attack/defense UI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consequences: operators can't act on a bare score, errors are costly in both directions, and the data itself (structured, sequential headers) breaks the assumptions of off-the-shelf explainers like LIME/SHAP.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mechanisms in order — this is exactly the pipeline we reimplemented in the backend's explainer.py and rule_generator.py.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paper's own numbers, not ours — included to set the bar our reimplementation and DL alternative are measured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slide: the gap isn't a flaw in xNIDS's method, it's a structural limitation of treating any black-box detector as immutable. Our answer changes the detector, keeps the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'from scratch': LSTMCell implements i/f/o/g gates and manual backprop-through-time in pure NumPy — this is a real recurrent network, not a relabeled MLP.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— this is literally the call graph inside attacks.py: simulate, detect, explain, generate_defense_response, persist.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this is a real running app — FastAPI backend on :8000, React dev server on :5173, with CORS wired and live data flowing between every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pulled directly from a live curl of /api/dashboard/stats and /api/dashboard/model_comparison — not hand-typed. MITM and Botnet show the clearest LSTM-AE advantage since those rely most on cross-window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paper's Descriptive Accuracy / Fig. 3 idea, computed live by /api/dashboard/model_comparison against both of our detectors — not copied from the paper's own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here — this slide is what separates a credible engineering demo from an overclaimed one. Swapping in a real PCAP pipeline only touches traffic_sim.py's output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real names/roles. Keep the four-quadrant split (analysis / ML / backend / frontend+docs) if it matches how the work was actually divided.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4FD6D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B020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 Console — a working demo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Deep Learning-based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Systems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Active Intrusion Response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analysis  ·  Gap identification  ·  </a:t>
            </a:r>
            <a:pPr indent="0" marL="0">
              <a:buNone/>
            </a:pPr>
            <a:r>
              <a:rPr lang="en-US" sz="16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LSTM-Autoencoder</a:t>
            </a:r>
            <a:pPr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Full-stack implementation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54132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paper:  </a:t>
            </a:r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 — Wei, Li, Zhao, Hu  ·  USENIX Security 2023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7424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github.com/CactiLab/code-xNIDS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DL-NIDS detect well. They explain almost nothing.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938528"/>
            <a:ext cx="109728" cy="109728"/>
          </a:xfrm>
          <a:prstGeom prst="ellipse">
            <a:avLst/>
          </a:prstGeom>
          <a:solidFill>
            <a:srgbClr val="FF546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 are scores or labels. Operators need to know which host, flow, or feature to act on — and the model doesn't say.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335584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cost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5935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missed attack lets an intruder in; a flood of false positives buries operators in manual triage.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" y="4773168"/>
            <a:ext cx="109728" cy="109728"/>
          </a:xfrm>
          <a:prstGeom prst="ellipse">
            <a:avLst/>
          </a:prstGeom>
          <a:solidFill>
            <a:srgbClr val="4FD6D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architecture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0109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DL-NIDS use history-dependent, structurally complex inputs (e.g. IP headers) that existing explainers were never built for.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4754880" cy="3931920"/>
          </a:xfrm>
          <a:prstGeom prst="roundRect">
            <a:avLst>
              <a:gd name="adj" fmla="val 139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ACTIVE RESPONSE STALLS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514600"/>
            <a:ext cx="4114800" cy="566928"/>
          </a:xfrm>
          <a:prstGeom prst="roundRect">
            <a:avLst>
              <a:gd name="adj" fmla="val 8065"/>
            </a:avLst>
          </a:prstGeom>
          <a:solidFill>
            <a:srgbClr val="181D29"/>
          </a:solidFill>
          <a:ln w="15875">
            <a:solidFill>
              <a:srgbClr val="4F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514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30815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B7E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12280" y="3337560"/>
            <a:ext cx="4114800" cy="566928"/>
          </a:xfrm>
          <a:prstGeom prst="roundRect">
            <a:avLst>
              <a:gd name="adj" fmla="val 8065"/>
            </a:avLst>
          </a:prstGeom>
          <a:solidFill>
            <a:srgbClr val="181D29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3375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904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B7E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12280" y="4160520"/>
            <a:ext cx="4114800" cy="566928"/>
          </a:xfrm>
          <a:prstGeom prst="roundRect">
            <a:avLst>
              <a:gd name="adj" fmla="val 8065"/>
            </a:avLst>
          </a:prstGeom>
          <a:solidFill>
            <a:srgbClr val="181D29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41605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score: 0.93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47274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B7E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12280" y="4983480"/>
            <a:ext cx="4114800" cy="566928"/>
          </a:xfrm>
          <a:prstGeom prst="roundRect">
            <a:avLst>
              <a:gd name="adj" fmla="val 8065"/>
            </a:avLst>
          </a:prstGeom>
          <a:solidFill>
            <a:srgbClr val="181D29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4983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 — no actionable reason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PAPER'S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xNIDS: explain the black box, then act on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146304" cy="146304"/>
          </a:xfrm>
          <a:prstGeom prst="ellipse">
            <a:avLst/>
          </a:prstGeom>
          <a:solidFill>
            <a:srgbClr val="4FD6D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75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History approximation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small set of relevant history inputs (not just xₜ, not all of Xₜ,ₖ) that reproduce the original detection score within a tolerance δ.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48840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75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Decay-weighted sampling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samples around history inputs via Weighted Random Sampling, biased toward the most recent windows — matching how LSTM forget-gates discount old inputs.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48840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075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Sparse group lasso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structurally related features (e.g. TCP sub-fields) so the surrogate model includes/excludes whole groups — capturing dependencies LIME/SHAP/IG ignore.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Defense rule generation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results → rule scope (per-flow / per-host / multi-hosts) → block strategy (passive / assertive / aggressive) → unified rule → OpenFlow, iptables, Pfsense, Squid.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PAPER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 outperformed five baselines on every axis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DL-NIDS evaluated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· ODDS · RNN-IDS · AE-IDS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6704" y="18288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1993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75304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fidelity AUC (lower=better)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75304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0.41–0.86 for LIME/SHAP/LEMNA/IG/LRP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4768" y="18288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1993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73368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score across systems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0.36–0.64 for best baselines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42832" y="18288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71432" y="1993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~25ms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71432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defense rule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71432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OpenFlow, iptables, Pfsense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impact (paper Table 11) — false positives eliminated after patching: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4160520"/>
          <a:ext cx="108813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GAP WE IDENTIFIED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explainer carries a burden the detector should share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ACKNOWLEDGES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target systems treat history shallowly</a:t>
            </a:r>
            <a:endParaRPr lang="en-US" sz="1300" dirty="0"/>
          </a:p>
          <a:p>
            <a:pPr lvl="1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Kitsune: fixed sliding window. RNN-IDS/AE-IDS: minimal sequence modeling. ODDS: LSTM-based but still opaque to the explainer.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History-awareness is bolted on, not built in</a:t>
            </a:r>
            <a:endParaRPr lang="en-US" sz="1300" dirty="0"/>
          </a:p>
          <a:p>
            <a:pPr lvl="1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 must repeatedly sample around approximated history inputs to recover what the model already implicitly used.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latency and bounded fidelity</a:t>
            </a:r>
            <a:endParaRPr lang="en-US" sz="130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~900ms per explanation (paper Fig. 5); fidelity is capped by how well sampled windows stand in for true temporal reasoning.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detector native history-awareness instead of asking the explainer to reconstruct it from outside.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063240"/>
            <a:ext cx="4480560" cy="0"/>
          </a:xfrm>
          <a:prstGeom prst="line">
            <a:avLst/>
          </a:prstGeom>
          <a:noFill/>
          <a:ln w="12700">
            <a:solidFill>
              <a:srgbClr val="2B32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24612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LSTM-Autoencoder reconstructs the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history sequence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end-to-end, exposing per-timestep, per-feature error as a free, gradient-free importance signal — complementing (not replacing) the xNIDS-style explainer.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OUR DEEP LEARNING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LSTM-Autoencoder: built from scratch, history-native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0" cy="4023360"/>
          </a:xfrm>
          <a:prstGeom prst="roundRect">
            <a:avLst>
              <a:gd name="adj" fmla="val 136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sequence  (5 × 23 features)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880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B7E"/>
                </a:solidFill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081528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LSTM  (23 → 12 hidden)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5387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B7E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39896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hidden-state sequence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B7E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398264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98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LSTM  (12 → 23)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8554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B7E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5056632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4F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56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sequence  +  per-step error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828800"/>
            <a:ext cx="4572000" cy="4023360"/>
          </a:xfrm>
          <a:prstGeom prst="roundRect">
            <a:avLst>
              <a:gd name="adj" fmla="val 136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history modeling —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all 5 history steps, not just xₜ, directly addressing Ch1.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Unsupervised, benign-only —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paper's own target systems; no labeled attack data required to train.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importance signal —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decay-weighted per-feature error needs zero sampling, cutting explanation latency.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heavy DL dependency —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gate math + BPTT implemented in NumPy; trained with real gradient descent.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response: the full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9324" y="2377440"/>
            <a:ext cx="164592" cy="164592"/>
          </a:xfrm>
          <a:prstGeom prst="ellipse">
            <a:avLst/>
          </a:prstGeom>
          <a:solidFill>
            <a:srgbClr val="4FD6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23-dim feature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5 attack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B7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7208" y="214884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7892" y="2377440"/>
            <a:ext cx="164592" cy="164592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2898648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8648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Kitsune-AE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 +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LSTM-AE (ours)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B7E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65776" y="214884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66460" y="2377440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57216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WRS +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group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surrogate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31736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B7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24344" y="214884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5028" y="2377440"/>
            <a:ext cx="164592" cy="164592"/>
          </a:xfrm>
          <a:prstGeom prst="ellipse">
            <a:avLst/>
          </a:prstGeom>
          <a:solidFill>
            <a:srgbClr val="FF5468"/>
          </a:solidFill>
          <a:ln/>
        </p:spPr>
      </p:sp>
      <p:sp>
        <p:nvSpPr>
          <p:cNvPr id="21" name="Text 19"/>
          <p:cNvSpPr/>
          <p:nvPr/>
        </p:nvSpPr>
        <p:spPr>
          <a:xfrm>
            <a:off x="7415784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15784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strategy →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/ iptables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Pfsense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90304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B7E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82912" y="214884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83596" y="2377440"/>
            <a:ext cx="164592" cy="164592"/>
          </a:xfrm>
          <a:prstGeom prst="ellipse">
            <a:avLst/>
          </a:prstGeom>
          <a:solidFill>
            <a:srgbClr val="E8ECF4"/>
          </a:solidFill>
          <a:ln/>
        </p:spPr>
      </p:sp>
      <p:sp>
        <p:nvSpPr>
          <p:cNvPr id="26" name="Text 24"/>
          <p:cNvSpPr/>
          <p:nvPr/>
        </p:nvSpPr>
        <p:spPr>
          <a:xfrm>
            <a:off x="9674352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74352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·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·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SQLAlchemy (SQLite / MySQL)  ·  NumPy + scikit-learn  ·  React 19 + Vite + recharts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81D29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5486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full pipeline: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/api/attacks/simulate → detect → explain → generate rule → persist → render — under 1 second end to end in this deployment.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screens, one investigation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21408"/>
            <a:ext cx="146304" cy="146304"/>
          </a:xfrm>
          <a:prstGeom prst="ellipse">
            <a:avLst/>
          </a:prstGeom>
          <a:solidFill>
            <a:srgbClr val="4FD6D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2996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1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composite anomaly signal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counts, severity mix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defense rule count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5304" y="2121408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3803904" y="202996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Screen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5304" y="2788920"/>
            <a:ext cx="221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DDoS / Scan / Botnet / MITM / HTTP Flood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detector + block strategy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group-level feature importance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2121408"/>
            <a:ext cx="146304" cy="146304"/>
          </a:xfrm>
          <a:prstGeom prst="ellipse">
            <a:avLst/>
          </a:prstGeom>
          <a:solidFill>
            <a:srgbClr val="FF5468"/>
          </a:solidFill>
          <a:ln/>
        </p:spPr>
      </p:sp>
      <p:sp>
        <p:nvSpPr>
          <p:cNvPr id="14" name="Text 12"/>
          <p:cNvSpPr/>
          <p:nvPr/>
        </p:nvSpPr>
        <p:spPr>
          <a:xfrm>
            <a:off x="6601968" y="202996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Screen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2788920"/>
            <a:ext cx="221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generated unified rules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/ iptables / Pfsense views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critical services (Sec 4.2)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71432" y="2121408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400032" y="202996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71432" y="2788920"/>
            <a:ext cx="221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Kitsune-AE vs LSTM-AE head-to-head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fidelity (ADA-style) curve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Per-attack recall 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EFFECTIVENESS —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LSTM-Autoencoder matches or beats the baseline on recall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28800"/>
            <a:ext cx="3886200" cy="3931920"/>
          </a:xfrm>
          <a:prstGeom prst="roundRect">
            <a:avLst>
              <a:gd name="adj" fmla="val 1412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05256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498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2788920"/>
            <a:ext cx="3246120" cy="0"/>
          </a:xfrm>
          <a:prstGeom prst="line">
            <a:avLst/>
          </a:prstGeom>
          <a:noFill/>
          <a:ln w="9525">
            <a:solidFill>
              <a:srgbClr val="2B32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3246120"/>
            <a:ext cx="3246120" cy="0"/>
          </a:xfrm>
          <a:prstGeom prst="line">
            <a:avLst/>
          </a:prstGeom>
          <a:noFill/>
          <a:ln w="9525">
            <a:solidFill>
              <a:srgbClr val="2B3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525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0" y="3703320"/>
            <a:ext cx="3246120" cy="0"/>
          </a:xfrm>
          <a:prstGeom prst="line">
            <a:avLst/>
          </a:prstGeom>
          <a:noFill/>
          <a:ln w="9525">
            <a:solidFill>
              <a:srgbClr val="2B32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5256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4984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0" y="4160520"/>
            <a:ext cx="3246120" cy="0"/>
          </a:xfrm>
          <a:prstGeom prst="line">
            <a:avLst/>
          </a:prstGeom>
          <a:noFill/>
          <a:ln w="9525">
            <a:solidFill>
              <a:srgbClr val="2B32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05256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14984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0" y="4754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 from the running app's /api/dashboard endpoints on synthetic, paper-inspired traffic.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EFFECTIVENESS — EXPLANATION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fidelity test as the paper (Fig. 3), reproduced live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3703320" cy="3931920"/>
          </a:xfrm>
          <a:prstGeom prst="roundRect">
            <a:avLst>
              <a:gd name="adj" fmla="val 1481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3317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features by the XNIDS-style explainer, then zero the top k and re-score the same malicious sequence.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steeper, lower curve means the explainer correctly identified the features the detector actually depends on.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fall sharply by k=4 — confirming the sparse-group-lasso explainer transfers cleanly across architectures.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SCOPE &amp;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real, what's simplified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146304" cy="146304"/>
          </a:xfrm>
          <a:prstGeom prst="ellipse">
            <a:avLst/>
          </a:prstGeom>
          <a:solidFill>
            <a:srgbClr val="4FD6D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xNIDS-style explanation pipeline (history WRS + group-aware surrogate)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LSTM with manual BPTT, trained with real gradient descent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rule generation: scope → strategy → OpenFlow/iptables/Pfsense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FastAPI + React app with persistence and live 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103120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51460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paper-inspired traffic generator (no internet access to CICIDS2017/NSL-KDD mirrors in this environment)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surrogate instead of the paper's full sparse-group-lasso BCD solver (BCD version included for reference)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Single-run fidelity test, not the paper's full multi-seed evaluation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81D29"/>
          </a:solidFill>
          <a:ln w="15875">
            <a:solidFill>
              <a:srgbClr val="4F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analysis &amp; gap identification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summarized xNIDS (Sec 1-4, 6-7)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history-modeling gap (Ch1)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problem/solution/gap 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6704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103120"/>
            <a:ext cx="457200" cy="457200"/>
          </a:xfrm>
          <a:prstGeom prst="ellipse">
            <a:avLst/>
          </a:prstGeom>
          <a:solidFill>
            <a:srgbClr val="181D29"/>
          </a:solidFill>
          <a:ln w="15875">
            <a:solidFill>
              <a:srgbClr val="4F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75304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5304" y="29443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core: detectors &amp; explainer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75304" y="352044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Kitsune-style autoencoder baseline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LSTM-Autoencoder (BPTT)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XNIDS-style explainer + rule generator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103120"/>
            <a:ext cx="457200" cy="457200"/>
          </a:xfrm>
          <a:prstGeom prst="ellipse">
            <a:avLst/>
          </a:prstGeom>
          <a:solidFill>
            <a:srgbClr val="181D29"/>
          </a:solidFill>
          <a:ln w="15875">
            <a:solidFill>
              <a:srgbClr val="4F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368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29443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73368" y="352044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routers, schemas, model store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(SQLite/MySQL)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API 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42832" y="1828800"/>
            <a:ext cx="2670048" cy="4023360"/>
          </a:xfrm>
          <a:prstGeom prst="roundRect">
            <a:avLst>
              <a:gd name="adj" fmla="val 2055"/>
            </a:avLst>
          </a:prstGeom>
          <a:solidFill>
            <a:srgbClr val="12161F"/>
          </a:solidFill>
          <a:ln w="12700">
            <a:solidFill>
              <a:srgbClr val="2B32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71432" y="2103120"/>
            <a:ext cx="457200" cy="457200"/>
          </a:xfrm>
          <a:prstGeom prst="ellipse">
            <a:avLst/>
          </a:prstGeom>
          <a:solidFill>
            <a:srgbClr val="181D29"/>
          </a:solidFill>
          <a:ln w="15875">
            <a:solidFill>
              <a:srgbClr val="4F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71432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71432" y="29443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documentation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1432" y="352044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console (Dashboard/Attack/Defence/Model Lab)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design system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(HLD/LLD) &amp; this presentation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names with actual team members before submission.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xNIDS: Explaining DL-NIDS for Active Intrusion Response</dc:title>
  <dc:subject>PptxGenJS Presentation</dc:subject>
  <dc:creator>Project Team</dc:creator>
  <cp:lastModifiedBy>Project Team</cp:lastModifiedBy>
  <cp:revision>1</cp:revision>
  <dcterms:created xsi:type="dcterms:W3CDTF">2026-06-19T17:51:39Z</dcterms:created>
  <dcterms:modified xsi:type="dcterms:W3CDTF">2026-06-19T17:51:39Z</dcterms:modified>
</cp:coreProperties>
</file>